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40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Presentar el objetivo: demostrar dos patrones de comunicación en tiempo real usando .NET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el recorrido: primero los conceptos de WebSocket y gRPC, luego la demo del chat, después GraphQL con la demo del BookStore.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WebSocket resuelve el problema del polling: en lugar de pedir datos cada N segundos, el servidor empuja datos cuando están disponibles. El handshake inicial es HTTP (por eso funciona en browsers), pero luego se eleva a 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gRPC es Google Remote Procedure Call. En .NET se usa Grpc.AspNetCore. El archivo .proto define el contrato — es la diferencia clave con REST donde no hay contrato formal. El compilador genera código cliente y servidor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diagrama y recorrer el flujo. Punto clave: el browser no puede hablar gRPC directamente (no hay soporte nativo), por eso el ChatWebApp actúa como bridge: recibe WebSocket y traduce a gRPC.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Visual Studio y mostrar los archivos. Hacer énfasis en chat.proto — el contrato define todo. El cliente gRPC en ChatWebApp es generado automáticamente por Grpc.Tools al compilar.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GraphQL resuelve el problema del over-fetching (REST devuelve campos que no necesitas) y el under-fetching (necesitas varios endpoints para componer una vista). Con GraphQL: un endpoint, tú decides qué campos.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abrir dos ventanas del navegador. En una, activar la pestaña Network y mostrar el WebSocket abierto. En la otra, agregar un libro. Mostrar cómo el primer browser recibe la notificación sin haber hecho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Banana Cake Pop durante la demo. Mostrar el schema explorer: Query, Mutation, Subscription, y el tipo Book con todos sus campos. Luego ejecutar una query con filtro y mostrar cómo cambia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para la discusión final. Punto clave: no hay una tecnología mejor, sino la más adecuada para el caso de uso. En proyectos reales se usan en combinación — como en la Demo 1 donde coexisten WebSocket y gRPC.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central: estas tecnologías no compiten entre sí, se complementan. Una API REST sigue siendo válida para CRUD clásico. Elegir la herramienta correcta es parte del diseño arquitectónico.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F72B-8113-E637-9C42-124D387C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85978-0B37-A297-3AFD-480DC6EC3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DB2A0-FDA9-5C41-6A31-6FBC64100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el recorrido: primero los conceptos de WebSocket y gRPC, luego la demo del chat, después GraphQL con la demo del BookStore.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A0FE5-69BF-646D-E7D8-BF611161B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5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WebSockets_AP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hillicream.com/docs/hotchocolate/v13/get-started-with-graphql-in-net-core/" TargetMode="External"/><Relationship Id="rId5" Type="http://schemas.openxmlformats.org/officeDocument/2006/relationships/hyperlink" Target="https://graphql.org/learn/queries/" TargetMode="External"/><Relationship Id="rId4" Type="http://schemas.openxmlformats.org/officeDocument/2006/relationships/hyperlink" Target="https://learn.microsoft.com/en-us/aspnet/core/fundamentals/websock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8538" y="914400"/>
            <a:ext cx="6400800" cy="3291840"/>
          </a:xfrm>
          <a:prstGeom prst="roundRect">
            <a:avLst>
              <a:gd name="adj" fmla="val 5000"/>
            </a:avLst>
          </a:prstGeom>
          <a:solidFill>
            <a:srgbClr val="26201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463040" y="11430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F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en Tiempo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83968" y="1965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2383968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27418" y="1965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52B78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833949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64325" y="1965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264325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5786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Chat WebSocket + gRPC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85292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Catálogo GraphQL + Hot Chocolate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291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· .NET 8 · ASP.NET Core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1C881CA-BCBC-E7C3-F9BD-E9B45D55A984}"/>
              </a:ext>
            </a:extLst>
          </p:cNvPr>
          <p:cNvSpPr/>
          <p:nvPr/>
        </p:nvSpPr>
        <p:spPr>
          <a:xfrm>
            <a:off x="1417320" y="36941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José Antonio Julca Díaz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475488" cy="475488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07008" y="1115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WebSocket?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Protocolo, características, cuándo usarlo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21792" y="2496312"/>
            <a:ext cx="475488" cy="475488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21792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gRPC?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Buffers, HTTP/2, ventajas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21792" y="3730752"/>
            <a:ext cx="475488" cy="475488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21792" y="3730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3584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Chat en Tiempo Real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gRPC · Arquitectura y flujo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5010912" y="1261872"/>
            <a:ext cx="475488" cy="475488"/>
          </a:xfrm>
          <a:prstGeom prst="ellipse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0109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96128" y="1115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GraphQL?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96128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Mutations, Subscriptions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402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5010912" y="2496312"/>
            <a:ext cx="475488" cy="475488"/>
          </a:xfrm>
          <a:prstGeom prst="ellipse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010912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6128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BookStore GraphQL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Chocolate · Catálogo interactivo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5010912" y="3730752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5010912" y="3730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96128" y="3584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y conclusiones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96128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tecnología?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0" y="274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DF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bidireccional persistente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2620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Clásico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Cliente abre conexión → envía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007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Servidor responde → cierra conexión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Para cada mensaje: nueva conexión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749040" cy="146304"/>
          </a:xfrm>
          <a:prstGeom prst="rect">
            <a:avLst/>
          </a:prstGeom>
          <a:solidFill>
            <a:srgbClr val="E05C4B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Costoso en tiempo real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2620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Handshake HTTP inicial (una sola vez)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007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Conexión persiste abierta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Mensajes fluyen en ambas direcciones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3749040" cy="146304"/>
          </a:xfrm>
          <a:prstGeom prst="rect">
            <a:avLst/>
          </a:prstGeom>
          <a:solidFill>
            <a:srgbClr val="52B788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Ideal para tiempo real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07B39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 tiempo real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32461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07B39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2606040" y="3246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07B39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4754880" y="3246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en vivo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2461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07B39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6903720" y="3246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multijugador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7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.NET 8: app.UseWebSockets()  →  context.WebSockets.AcceptWebSocketAsync()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52B78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Procedure Call de alto rendimiento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21792" y="1088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Protocol Buffers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45389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tipado en archivo .proto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binaria eficiente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compacto que JSON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965192" y="1088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HTTP/2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65192" y="145389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Multiplexación de streams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de headers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Bidireccional nativo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21792" y="28254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Alto Rendimiento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319125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5-10x más rápido que REST/JSON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microservicios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latencia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6974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965192" y="28254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Tipos de Streaming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5192" y="319125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Unario (req → resp)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Streaming (1 req → N resp)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Bidireccional streaming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proyecto: ChatGrpcService expone SendMessage (unario) + GetHistory (server streaming)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07B39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en Tiempo Real · Arquitectura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26201A"/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Pages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WebSocket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95728" y="1572768"/>
            <a:ext cx="1371600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395728" y="1261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1481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ws://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10058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26201A"/>
          </a:solidFill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794760" y="1078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ChatWebApp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Handler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16752" y="1572768"/>
            <a:ext cx="128016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016752" y="12618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HTTP/2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100584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6201A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315200" y="10789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144475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5001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al enviar un mensaje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907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escribe en el browser y presiona Enviar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64408"/>
            <a:ext cx="320040" cy="320040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envía JSON por WebSocket al ChatWebApp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48456"/>
            <a:ext cx="320040" cy="320040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4572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6758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ChatWebSocketHandler llama gRPC SendMessage → persiste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32504"/>
            <a:ext cx="320040" cy="3200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57200" y="4032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0599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hace broadcast a todos los WebSockets en la sala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16552"/>
            <a:ext cx="320040" cy="3200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457200" y="4416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4439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browser recibe el mensaje y lo renderiza en pantalla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r>
              <a:rPr lang="en-US" sz="2200" b="1" dirty="0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código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52B78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ChatGrpcService  · puerto 5001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chat.proto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Contrato: SendMessage + GetHistory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ChatServiceImpl.cs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39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los métodos gRPC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05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builder.Services.AddGrpc()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appsettings.json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46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 HTTP2 · puerto 5001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84632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ChatWebApp  · puerto 5000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chat.proto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536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cliente gRPC automáticamente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9019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ChatWebSocketHandler.cs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139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WebSocket ↔ gRPC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5054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Chat.cshtml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chat + WebSocket en JavaScript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108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346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UseWebSockets() + ruta /ws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técnica: </a:t>
            </a: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serializa records en PascalCase. Se añade </a:t>
            </a:r>
            <a:r>
              <a:rPr lang="en-US" sz="1100" b="1" dirty="0">
                <a:solidFill>
                  <a:srgbClr val="B85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JsonNamingPolicy.CamelCase</a:t>
            </a: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que el browser reciba </a:t>
            </a:r>
            <a:r>
              <a:rPr lang="en-US" sz="1100" b="1" dirty="0">
                <a:solidFill>
                  <a:srgbClr val="B85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type, sender, content</a:t>
            </a:r>
            <a:r>
              <a:rPr lang="en-US" sz="11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minúscula.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34640" y="274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DF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language para APIs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2620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datos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2340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books(where: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genre: { eq: "Prog"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price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pide exactamente los campos que necesita. El servidor solo devuelve esos.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2620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3429000" y="107899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3429000" y="1078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444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datos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17373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3493008" y="1783080"/>
            <a:ext cx="2340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addBook(input: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"...",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price: 49.9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title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actualizar o eliminar. Devuelve los campos del objeto modificado.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96012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2620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355080" y="107899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355080" y="1078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444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vía WebSocket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17373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419088" y="1783080"/>
            <a:ext cx="2340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onBookAdded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title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empuja datos automáticamente cuando ocurre un evento.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Chocolate 13 — implementación .NET de GraphQL. Playground: Banana Cake Pop en /graphql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D85A30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BookStore</a:t>
            </a:r>
            <a:r>
              <a:rPr lang="en-US" sz="20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GraphQL · Arquitectura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26201A"/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BookStore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Pages + JS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8608" y="1481328"/>
            <a:ext cx="109728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578608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1691640"/>
            <a:ext cx="109728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2578608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(subs)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9601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6201A"/>
          </a:solidFill>
          <a:ln w="1905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703320" y="1005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BookStoreApi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Chocolate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463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08192" y="1508760"/>
            <a:ext cx="10972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7223760" y="9601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26201A"/>
          </a:solidFill>
          <a:ln w="12700">
            <a:solidFill>
              <a:srgbClr val="8B746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223760" y="107899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157276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libros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25603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26201A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3017520" y="2578608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GetBooks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5603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26201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572000" y="2578608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AddBook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5603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26201A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6126480" y="2578608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OnBookAdded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Subscription (tiempo real):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82219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Browser abre WebSocket y envía { type: 'subscribe', query: 'subscription { onBookAdded {...} }' 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6966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Alguien ejecuta mutation addBook → Hot Chocolate llama ITopicEventSender.SendAsync('BookAdded', book)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1713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El evento llega a todos los suscriptores → cada browser recibe notificación automáticamente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r>
              <a:rPr lang="en-US" sz="2200" b="1" dirty="0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código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BookStoreApi  · puerto 5100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Models/Book.cs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Book + BookInput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922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Data/BookRepository.cs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025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thread-safe con lock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GraphQL/Queries/Query.cs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96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[UseFiltering] [UseSorting] automático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GraphQL/Mutations/Mutation.cs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990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AddBook + DeleteBook + publica evento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GraphQL/Subscriptions/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483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OnBookAdded via ITopicEventSender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767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AddGraphQLServer() + InMemorySubscriptions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E07B3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84632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BookStoreWebApp  · puerto 5101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298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Pages/Index.cshtml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completa: catálogo + formulario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7922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loadBooks()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0025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→ Query GraphQL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addBook()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2496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→ Mutation inline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77977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deleteBook()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990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→ Mutation con 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3273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startSubscription()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483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→ graphql-transport-ws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767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appsettings.json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GraphQL:ApiUrl → puerto 5100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disponible en http://localhost:5100/graphql — Banana Cake Pop muestra el schema completo y permite ejecutar las tres operaciones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— ¿Cuándo usar cada tecnología?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1645920" cy="457200"/>
          </a:xfrm>
          <a:prstGeom prst="rect">
            <a:avLst/>
          </a:prstGeom>
          <a:solidFill>
            <a:srgbClr val="8B746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74904" y="822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93392" y="822960"/>
            <a:ext cx="1463040" cy="457200"/>
          </a:xfrm>
          <a:prstGeom prst="rect">
            <a:avLst/>
          </a:prstGeom>
          <a:solidFill>
            <a:srgbClr val="065A82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2048256" y="822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83864" y="822960"/>
            <a:ext cx="1645920" cy="457200"/>
          </a:xfrm>
          <a:prstGeom prst="rect">
            <a:avLst/>
          </a:prstGeom>
          <a:solidFill>
            <a:srgbClr val="E07B39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538728" y="822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57216" y="822960"/>
            <a:ext cx="1737360" cy="457200"/>
          </a:xfrm>
          <a:prstGeom prst="rect">
            <a:avLst/>
          </a:prstGeom>
          <a:solidFill>
            <a:srgbClr val="52B788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212080" y="822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12864" y="822960"/>
            <a:ext cx="1737360" cy="457200"/>
          </a:xfrm>
          <a:prstGeom prst="rect">
            <a:avLst/>
          </a:prstGeom>
          <a:solidFill>
            <a:srgbClr val="D85A3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967728" y="822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298448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374904" y="12984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93392" y="1298448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2048256" y="1298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83864" y="1298448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3538728" y="12984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Bidireccional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57216" y="1298448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212080" y="12984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Bidireccional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12864" y="1298448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967728" y="12984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+ Subs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1773936"/>
            <a:ext cx="164592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374904" y="17739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93392" y="1773936"/>
            <a:ext cx="146304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2048256" y="17739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83864" y="1773936"/>
            <a:ext cx="164592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3538728" y="17739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(sobre TCP)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57216" y="1773936"/>
            <a:ext cx="173736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5212080" y="17739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12864" y="1773936"/>
            <a:ext cx="173736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6967728" y="17739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WS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249424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374904" y="22494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993392" y="2249424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2048256" y="22494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XML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83864" y="2249424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3538728" y="22494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binario libre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57216" y="2249424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Text 38"/>
          <p:cNvSpPr/>
          <p:nvPr/>
        </p:nvSpPr>
        <p:spPr>
          <a:xfrm>
            <a:off x="5212080" y="22494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Buffers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12864" y="2249424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2" name="Text 40"/>
          <p:cNvSpPr/>
          <p:nvPr/>
        </p:nvSpPr>
        <p:spPr>
          <a:xfrm>
            <a:off x="6967728" y="22494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2724912"/>
            <a:ext cx="164592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Text 42"/>
          <p:cNvSpPr/>
          <p:nvPr/>
        </p:nvSpPr>
        <p:spPr>
          <a:xfrm>
            <a:off x="374904" y="2724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993392" y="2724912"/>
            <a:ext cx="146304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6" name="Text 44"/>
          <p:cNvSpPr/>
          <p:nvPr/>
        </p:nvSpPr>
        <p:spPr>
          <a:xfrm>
            <a:off x="2048256" y="2724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(polling)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83864" y="2724912"/>
            <a:ext cx="164592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Text 46"/>
          <p:cNvSpPr/>
          <p:nvPr/>
        </p:nvSpPr>
        <p:spPr>
          <a:xfrm>
            <a:off x="3538728" y="2724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nativo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57216" y="2724912"/>
            <a:ext cx="173736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0" name="Text 48"/>
          <p:cNvSpPr/>
          <p:nvPr/>
        </p:nvSpPr>
        <p:spPr>
          <a:xfrm>
            <a:off x="5212080" y="27249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(streaming)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12864" y="2724912"/>
            <a:ext cx="173736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50"/>
          <p:cNvSpPr/>
          <p:nvPr/>
        </p:nvSpPr>
        <p:spPr>
          <a:xfrm>
            <a:off x="6967728" y="27249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(subscriptions)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32004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Text 52"/>
          <p:cNvSpPr/>
          <p:nvPr/>
        </p:nvSpPr>
        <p:spPr>
          <a:xfrm>
            <a:off x="374904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993392" y="32004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6" name="Text 54"/>
          <p:cNvSpPr/>
          <p:nvPr/>
        </p:nvSpPr>
        <p:spPr>
          <a:xfrm>
            <a:off x="2048256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CRUD clásicas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83864" y="32004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8" name="Text 56"/>
          <p:cNvSpPr/>
          <p:nvPr/>
        </p:nvSpPr>
        <p:spPr>
          <a:xfrm>
            <a:off x="3538728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dashboards live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157216" y="32004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0" name="Text 58"/>
          <p:cNvSpPr/>
          <p:nvPr/>
        </p:nvSpPr>
        <p:spPr>
          <a:xfrm>
            <a:off x="521208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internos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912864" y="32004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2" name="Text 60"/>
          <p:cNvSpPr/>
          <p:nvPr/>
        </p:nvSpPr>
        <p:spPr>
          <a:xfrm>
            <a:off x="6967728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flexibles, móvil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" y="3675888"/>
            <a:ext cx="164592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4" name="Text 62"/>
          <p:cNvSpPr/>
          <p:nvPr/>
        </p:nvSpPr>
        <p:spPr>
          <a:xfrm>
            <a:off x="374904" y="36758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993392" y="3675888"/>
            <a:ext cx="146304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6" name="Text 64"/>
          <p:cNvSpPr/>
          <p:nvPr/>
        </p:nvSpPr>
        <p:spPr>
          <a:xfrm>
            <a:off x="2048256" y="3675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83864" y="3675888"/>
            <a:ext cx="164592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6"/>
          <p:cNvSpPr/>
          <p:nvPr/>
        </p:nvSpPr>
        <p:spPr>
          <a:xfrm>
            <a:off x="3538728" y="36758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157216" y="3675888"/>
            <a:ext cx="173736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68"/>
          <p:cNvSpPr/>
          <p:nvPr/>
        </p:nvSpPr>
        <p:spPr>
          <a:xfrm>
            <a:off x="5212080" y="36758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.proto (estricto)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912864" y="3675888"/>
            <a:ext cx="1737360" cy="457200"/>
          </a:xfrm>
          <a:prstGeom prst="rect">
            <a:avLst/>
          </a:prstGeom>
          <a:solidFill>
            <a:srgbClr val="F8F4F0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Text 70"/>
          <p:cNvSpPr/>
          <p:nvPr/>
        </p:nvSpPr>
        <p:spPr>
          <a:xfrm>
            <a:off x="6967728" y="36758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GraphQL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0040" y="4151376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4" name="Text 72"/>
          <p:cNvSpPr/>
          <p:nvPr/>
        </p:nvSpPr>
        <p:spPr>
          <a:xfrm>
            <a:off x="374904" y="41513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nativo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993392" y="4151376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6" name="Text 74"/>
          <p:cNvSpPr/>
          <p:nvPr/>
        </p:nvSpPr>
        <p:spPr>
          <a:xfrm>
            <a:off x="2048256" y="41513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483864" y="4151376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8" name="Text 76"/>
          <p:cNvSpPr/>
          <p:nvPr/>
        </p:nvSpPr>
        <p:spPr>
          <a:xfrm>
            <a:off x="3538728" y="41513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157216" y="4151376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0" name="Text 78"/>
          <p:cNvSpPr/>
          <p:nvPr/>
        </p:nvSpPr>
        <p:spPr>
          <a:xfrm>
            <a:off x="5212080" y="4151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(requiere proxy)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912864" y="4151376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2" name="Text 80"/>
          <p:cNvSpPr/>
          <p:nvPr/>
        </p:nvSpPr>
        <p:spPr>
          <a:xfrm>
            <a:off x="6967728" y="4151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DF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26201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530352" y="1280160"/>
            <a:ext cx="594360" cy="594360"/>
          </a:xfrm>
          <a:prstGeom prst="ellipse">
            <a:avLst/>
          </a:prstGeom>
          <a:solidFill>
            <a:srgbClr val="E07B39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3035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61872" y="1097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4356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persistente bidireccional. Ideal cuando el servidor necesita empujar datos al browser sin que este pregunte.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26201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919472" y="1280160"/>
            <a:ext cx="594360" cy="594360"/>
          </a:xfrm>
          <a:prstGeom prst="ellipse">
            <a:avLst/>
          </a:prstGeom>
          <a:solidFill>
            <a:srgbClr val="52B788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91947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50992" y="1097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50992" y="14356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tipada y eficiente entre servicios. El contrato .proto garantiza compatibilidad entre cliente y servidor.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26201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530352" y="2880360"/>
            <a:ext cx="594360" cy="594360"/>
          </a:xfrm>
          <a:prstGeom prst="ellipse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30352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61872" y="2697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WS + gRPC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0358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usa WebSocket (soportado), el backend usa gRPC (rendimiento). El puente es la clave de la arquitectura.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26201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4919472" y="2880360"/>
            <a:ext cx="594360" cy="594360"/>
          </a:xfrm>
          <a:prstGeom prst="ellipse">
            <a:avLst/>
          </a:prstGeom>
          <a:solidFill>
            <a:srgbClr val="D85A30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919472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50992" y="2697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50992" y="30358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endpoint, el cliente define qué campos necesita. Queries, Mutations y Subscriptions en un mismo protocolo.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· ASP.NET Core · Hot Chocolate 13 · Grpc.AspNetCore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E3C56-3AE2-3A43-FBA6-6A0EE2BF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4B46B1-C3EC-99C8-86A2-D4486DECAAB4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C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05EE7BA-B630-2D33-2E12-9A8019352912}"/>
              </a:ext>
            </a:extLst>
          </p:cNvPr>
          <p:cNvSpPr/>
          <p:nvPr/>
        </p:nvSpPr>
        <p:spPr>
          <a:xfrm>
            <a:off x="457200" y="1005840"/>
            <a:ext cx="8065008" cy="381435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A2545F-9043-C016-261D-181ED640B60C}"/>
              </a:ext>
            </a:extLst>
          </p:cNvPr>
          <p:cNvSpPr/>
          <p:nvPr/>
        </p:nvSpPr>
        <p:spPr>
          <a:xfrm>
            <a:off x="621792" y="1115568"/>
            <a:ext cx="37856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WebSocket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69A4F0-13FC-FC11-F31F-04E7A5E25C0B}"/>
              </a:ext>
            </a:extLst>
          </p:cNvPr>
          <p:cNvSpPr/>
          <p:nvPr/>
        </p:nvSpPr>
        <p:spPr>
          <a:xfrm>
            <a:off x="621791" y="1435609"/>
            <a:ext cx="6288459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MDN Web Docs. (2024). </a:t>
            </a:r>
            <a:r>
              <a:rPr lang="en-US" sz="1000" dirty="0" err="1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API. Mozilla Developer Network.</a:t>
            </a:r>
          </a:p>
          <a:p>
            <a:r>
              <a:rPr lang="en-US" sz="1000" b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https://developer.mozilla.org/en-US/docs/Web/API/WebSockets_API</a:t>
            </a:r>
            <a:endParaRPr lang="en-US" sz="1000" b="1" dirty="0">
              <a:solidFill>
                <a:srgbClr val="8B74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b="1" dirty="0">
              <a:solidFill>
                <a:srgbClr val="8B74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Microsoft. (2025). </a:t>
            </a:r>
            <a:r>
              <a:rPr lang="en-US" sz="1000" dirty="0" err="1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 in ASP.NET Core. Microsoft Learn.</a:t>
            </a:r>
            <a:b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https://learn.microsoft.com/en-us/aspnet/core/fundamentals/websockets</a:t>
            </a:r>
            <a:endParaRPr lang="en-US" sz="1000" b="1" dirty="0">
              <a:solidFill>
                <a:srgbClr val="8B74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1160DB-ACB5-A1B3-EEA0-DCE3945328FD}"/>
              </a:ext>
            </a:extLst>
          </p:cNvPr>
          <p:cNvSpPr/>
          <p:nvPr/>
        </p:nvSpPr>
        <p:spPr>
          <a:xfrm>
            <a:off x="621792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4D03D2-EC1F-6FDC-34A5-194C21482B29}"/>
              </a:ext>
            </a:extLst>
          </p:cNvPr>
          <p:cNvSpPr/>
          <p:nvPr/>
        </p:nvSpPr>
        <p:spPr>
          <a:xfrm>
            <a:off x="621792" y="3730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7749227F-8013-5DF7-03D4-6998941226E4}"/>
              </a:ext>
            </a:extLst>
          </p:cNvPr>
          <p:cNvSpPr/>
          <p:nvPr/>
        </p:nvSpPr>
        <p:spPr>
          <a:xfrm>
            <a:off x="621790" y="2523744"/>
            <a:ext cx="37856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/>
              <a:t>GraphQL</a:t>
            </a:r>
            <a:endParaRPr lang="en-US" sz="14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D458B644-DC31-BB18-F287-D2F4A413011B}"/>
              </a:ext>
            </a:extLst>
          </p:cNvPr>
          <p:cNvSpPr/>
          <p:nvPr/>
        </p:nvSpPr>
        <p:spPr>
          <a:xfrm>
            <a:off x="621792" y="2838108"/>
            <a:ext cx="7594745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1000" dirty="0" err="1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Foundation. (2024). Queries and Mutations. GraphQL.org.</a:t>
            </a:r>
            <a:b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https://graphql.org/learn/queries/</a:t>
            </a:r>
            <a:endParaRPr lang="en-US" sz="1000" b="1" dirty="0">
              <a:solidFill>
                <a:srgbClr val="8B74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b="1" dirty="0">
              <a:solidFill>
                <a:srgbClr val="8B74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1000" dirty="0" err="1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ChilliCream</a:t>
            </a: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(2024). Getting started with </a:t>
            </a:r>
            <a:r>
              <a:rPr lang="en-US" sz="1000" dirty="0" err="1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.NET Core — Hot Chocolate v13. </a:t>
            </a:r>
            <a:r>
              <a:rPr lang="en-US" sz="1000" dirty="0" err="1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ChilliCream</a:t>
            </a: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Platform.</a:t>
            </a:r>
            <a:br>
              <a:rPr lang="en-US" sz="1000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rgbClr val="8B746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https://chillicream.com/docs/hotchocolate/v13/get-started-with-graphql-in-net-core/</a:t>
            </a:r>
            <a:endParaRPr lang="en-US" sz="1000" b="1" dirty="0">
              <a:solidFill>
                <a:srgbClr val="8B74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solidFill>
                <a:srgbClr val="8B74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2608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1671</Words>
  <Application>Microsoft Office PowerPoint</Application>
  <PresentationFormat>On-screen Show (16:9)</PresentationFormat>
  <Paragraphs>286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Comunicación en Tiempo Real — WebSocket, gRPC y GraphQL</dc:title>
  <dc:subject>PptxGenJS Presentation</dc:subject>
  <dc:creator>Arquitectura de Software</dc:creator>
  <cp:lastModifiedBy>José Antonio Julca Díaz</cp:lastModifiedBy>
  <cp:revision>4</cp:revision>
  <dcterms:created xsi:type="dcterms:W3CDTF">2026-06-26T06:16:47Z</dcterms:created>
  <dcterms:modified xsi:type="dcterms:W3CDTF">2026-06-27T04:12:44Z</dcterms:modified>
</cp:coreProperties>
</file>